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8" r:id="rId3"/>
    <p:sldId id="269" r:id="rId4"/>
    <p:sldId id="27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0B02"/>
    <a:srgbClr val="740D02"/>
    <a:srgbClr val="901002"/>
    <a:srgbClr val="FA2A2A"/>
    <a:srgbClr val="AA0202"/>
    <a:srgbClr val="670101"/>
    <a:srgbClr val="A30101"/>
    <a:srgbClr val="AC0000"/>
    <a:srgbClr val="FF0909"/>
    <a:srgbClr val="D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A69C-52E6-31C4-BA0C-CF2AC2626A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7BC343-E8D3-9884-700F-DE0F3ED9A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7E4E60-B117-F67C-E84E-1296255F2B09}"/>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6AA0367F-944F-F555-4EB7-D67387D00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7006CD-5C6F-F969-7F8D-F2CD0AECB17F}"/>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597701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4AFAE-EA7A-22BF-9BB3-E6F96A696A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54A2BA-7E43-48CD-80FE-81F16A67A0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B3B6D3-2A6A-5A9E-FEEA-CDC285FC5150}"/>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BAEFDE7A-17BE-BA1E-90B5-057157A3EB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9EC96C-1084-BA40-4778-19A9178AF7FF}"/>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591188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452B0-006C-3BD6-5CAC-5D45FBACE1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9C0A57-A67D-7DBB-EABB-530900869F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F3EAC4-DE7B-01D7-7A7D-02535C7151E8}"/>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D6E2A87F-C85C-E007-FF77-CECF18EF6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C03745-9A61-379C-852F-3E702025DC0E}"/>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1681216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4F038-ED94-9116-6348-A57C61CB13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D65795-C7EC-E8F3-69A3-CC77C34AFC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F2056D-01BF-5C65-9032-139E0C056A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BA1140C-D7FE-3FFB-3D66-C9D193F13A4A}"/>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6" name="Footer Placeholder 5">
            <a:extLst>
              <a:ext uri="{FF2B5EF4-FFF2-40B4-BE49-F238E27FC236}">
                <a16:creationId xmlns:a16="http://schemas.microsoft.com/office/drawing/2014/main" id="{AC5D8508-B98C-AB7E-F903-F9C35824F6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436FA4-9989-DEC5-6796-B98053A08CC5}"/>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1708220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D5F9-7449-26A0-7165-713173E21E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099A5E-9BC9-E052-4A3B-42A73E0C7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B42D91-C092-76AF-65C5-5A78DD59A5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0690FE-4356-B35F-407F-6C79E6EFB4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0EDA1E-A49E-3A0C-F9AD-D22A0946B0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D0A6F1-C5EC-7E28-CAE8-890F2DABCBB4}"/>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8" name="Footer Placeholder 7">
            <a:extLst>
              <a:ext uri="{FF2B5EF4-FFF2-40B4-BE49-F238E27FC236}">
                <a16:creationId xmlns:a16="http://schemas.microsoft.com/office/drawing/2014/main" id="{632583A8-693C-74DB-86B4-081A26E1B3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6ABA9-16C8-2F39-9FF8-39211179F6A3}"/>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942751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CBC4E-30FC-9A2D-77DD-84347137A6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9D25D4-FD73-252C-3E33-08480CCA0C16}"/>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4" name="Footer Placeholder 3">
            <a:extLst>
              <a:ext uri="{FF2B5EF4-FFF2-40B4-BE49-F238E27FC236}">
                <a16:creationId xmlns:a16="http://schemas.microsoft.com/office/drawing/2014/main" id="{47AD9B1A-B0AC-4220-622A-94D3E60048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D0F228-35A9-159D-86E1-402C6B541C7C}"/>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1653338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0C4CF-3436-AB56-7013-7C39A7BF8340}"/>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3" name="Footer Placeholder 2">
            <a:extLst>
              <a:ext uri="{FF2B5EF4-FFF2-40B4-BE49-F238E27FC236}">
                <a16:creationId xmlns:a16="http://schemas.microsoft.com/office/drawing/2014/main" id="{62887F6E-449B-3B6F-2539-BF2E191BCC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F61AE7-00BF-E5B4-CB60-DA8BF5F65C2D}"/>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3705587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E372-C0CE-807C-59EF-5D8342F671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5870F3-9C96-BF51-E50D-0ADE5ACF46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9E03E3-DB0B-0E90-FAC6-178767BD5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89716C-6731-979C-DFCC-E111AA58CAB4}"/>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6" name="Footer Placeholder 5">
            <a:extLst>
              <a:ext uri="{FF2B5EF4-FFF2-40B4-BE49-F238E27FC236}">
                <a16:creationId xmlns:a16="http://schemas.microsoft.com/office/drawing/2014/main" id="{BF7C905A-BE7B-5523-C4E5-EE75DDAA54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525656-A0CE-8FE2-92CD-5F9F6E630D4C}"/>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59099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85A6-3109-31A4-8D0C-4E6016860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319F88-E220-7CB2-2022-0B23286380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1E77C0-3D76-49DD-4500-9E631641E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D95D9F-43A3-A273-FBAE-BE850BE4F587}"/>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6" name="Footer Placeholder 5">
            <a:extLst>
              <a:ext uri="{FF2B5EF4-FFF2-40B4-BE49-F238E27FC236}">
                <a16:creationId xmlns:a16="http://schemas.microsoft.com/office/drawing/2014/main" id="{DACE9F9D-56E2-1CEC-BD40-A0C5E02C78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7E7E62-CBAE-5E6C-A579-7853D77F8C84}"/>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304266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7E320-B306-0002-CBF2-868E6683E1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60096B-1442-ABD5-57D2-8EB2D8EF2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15A55-5385-6E0C-56C9-E6355BA69900}"/>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06930E6B-BF74-1851-858D-466B4B6848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B90895-D059-AB75-9C1C-96B8566A714B}"/>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3204358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FE6EB8-85D2-3FB6-4492-3B674FAC28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0BEA3A-39DC-97B4-2CB6-98709AEC6D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052CE4-E2C0-028C-C090-309EE5587FCC}"/>
              </a:ext>
            </a:extLst>
          </p:cNvPr>
          <p:cNvSpPr>
            <a:spLocks noGrp="1"/>
          </p:cNvSpPr>
          <p:nvPr>
            <p:ph type="dt" sz="half" idx="10"/>
          </p:nvPr>
        </p:nvSpPr>
        <p:spPr/>
        <p:txBody>
          <a:body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80623818-E73B-1EE1-908F-135C03DD67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1CF2F-2F34-F9AB-3982-4850464A5715}"/>
              </a:ext>
            </a:extLst>
          </p:cNvPr>
          <p:cNvSpPr>
            <a:spLocks noGrp="1"/>
          </p:cNvSpPr>
          <p:nvPr>
            <p:ph type="sldNum" sz="quarter" idx="12"/>
          </p:nvPr>
        </p:nvSpPr>
        <p:spPr/>
        <p:txBody>
          <a:bodyPr/>
          <a:lstStyle/>
          <a:p>
            <a:fld id="{48FBC79B-3DCF-4C42-9709-1CCD073B43B5}" type="slidenum">
              <a:rPr lang="en-IN" smtClean="0"/>
              <a:t>‹#›</a:t>
            </a:fld>
            <a:endParaRPr lang="en-IN"/>
          </a:p>
        </p:txBody>
      </p:sp>
    </p:spTree>
    <p:extLst>
      <p:ext uri="{BB962C8B-B14F-4D97-AF65-F5344CB8AC3E}">
        <p14:creationId xmlns:p14="http://schemas.microsoft.com/office/powerpoint/2010/main" val="133158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A94B63-981B-5111-7864-97B28855C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D9A432-99EE-88BE-FE32-CE60A86606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840BF0-152F-F9A0-8888-18CC378FC2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013A70-5D43-41EB-9B68-1C55EACA65FF}" type="datetimeFigureOut">
              <a:rPr lang="en-IN" smtClean="0"/>
              <a:t>15-08-2026</a:t>
            </a:fld>
            <a:endParaRPr lang="en-IN"/>
          </a:p>
        </p:txBody>
      </p:sp>
      <p:sp>
        <p:nvSpPr>
          <p:cNvPr id="5" name="Footer Placeholder 4">
            <a:extLst>
              <a:ext uri="{FF2B5EF4-FFF2-40B4-BE49-F238E27FC236}">
                <a16:creationId xmlns:a16="http://schemas.microsoft.com/office/drawing/2014/main" id="{74E22CD1-06BE-AE5B-CF93-28C9C178F9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795437-B713-B140-88AC-1D96D20128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BC79B-3DCF-4C42-9709-1CCD073B43B5}" type="slidenum">
              <a:rPr lang="en-IN" smtClean="0"/>
              <a:t>‹#›</a:t>
            </a:fld>
            <a:endParaRPr lang="en-IN"/>
          </a:p>
        </p:txBody>
      </p:sp>
    </p:spTree>
    <p:extLst>
      <p:ext uri="{BB962C8B-B14F-4D97-AF65-F5344CB8AC3E}">
        <p14:creationId xmlns:p14="http://schemas.microsoft.com/office/powerpoint/2010/main" val="3568866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16000"/>
                <a:lumOff val="84000"/>
                <a:alpha val="22000"/>
              </a:schemeClr>
            </a:gs>
            <a:gs pos="74000">
              <a:schemeClr val="accent2">
                <a:alpha val="28000"/>
                <a:lumMod val="21000"/>
                <a:lumOff val="79000"/>
              </a:schemeClr>
            </a:gs>
            <a:gs pos="100000">
              <a:schemeClr val="accent2">
                <a:lumMod val="38000"/>
                <a:lumOff val="62000"/>
                <a:alpha val="29000"/>
              </a:schemeClr>
            </a:gs>
          </a:gsLst>
          <a:lin ang="5400000" scaled="1"/>
          <a:tileRect/>
        </a:gradFill>
        <a:effectLst/>
      </p:bgPr>
    </p:bg>
    <p:spTree>
      <p:nvGrpSpPr>
        <p:cNvPr id="1" name="">
          <a:extLst>
            <a:ext uri="{FF2B5EF4-FFF2-40B4-BE49-F238E27FC236}">
              <a16:creationId xmlns:a16="http://schemas.microsoft.com/office/drawing/2014/main" id="{86B7AE21-06FC-4163-0ACB-B9D250C5E55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129EAB7-63D6-8347-55B4-EF1DA0BAAA4B}"/>
              </a:ext>
            </a:extLst>
          </p:cNvPr>
          <p:cNvSpPr/>
          <p:nvPr/>
        </p:nvSpPr>
        <p:spPr>
          <a:xfrm>
            <a:off x="0" y="0"/>
            <a:ext cx="12192000" cy="591054"/>
          </a:xfrm>
          <a:prstGeom prst="rect">
            <a:avLst/>
          </a:prstGeom>
          <a:solidFill>
            <a:srgbClr val="AA020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bIns="548640" rtlCol="0" anchor="ctr" anchorCtr="0">
            <a:noAutofit/>
          </a:bodyPr>
          <a:lstStyle/>
          <a:p>
            <a:endParaRPr lang="en-IN" dirty="0"/>
          </a:p>
          <a:p>
            <a:endParaRPr lang="en-IN" dirty="0"/>
          </a:p>
          <a:p>
            <a:pPr algn="ctr"/>
            <a:r>
              <a:rPr lang="en-US" sz="3600" b="1" dirty="0"/>
              <a:t>Market Basket Analysis with Python - Snapdeal</a:t>
            </a:r>
            <a:endParaRPr lang="en-IN" sz="3600" b="1" dirty="0"/>
          </a:p>
        </p:txBody>
      </p:sp>
      <p:sp>
        <p:nvSpPr>
          <p:cNvPr id="20" name="Rectangle 19">
            <a:extLst>
              <a:ext uri="{FF2B5EF4-FFF2-40B4-BE49-F238E27FC236}">
                <a16:creationId xmlns:a16="http://schemas.microsoft.com/office/drawing/2014/main" id="{35E9E94E-494F-7FF6-0603-1AA2555F3EC6}"/>
              </a:ext>
            </a:extLst>
          </p:cNvPr>
          <p:cNvSpPr/>
          <p:nvPr/>
        </p:nvSpPr>
        <p:spPr>
          <a:xfrm>
            <a:off x="2240658" y="729506"/>
            <a:ext cx="1810878"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40.88 %</a:t>
            </a:r>
          </a:p>
          <a:p>
            <a:endParaRPr lang="en-US" b="1" dirty="0">
              <a:solidFill>
                <a:schemeClr val="tx1"/>
              </a:solidFill>
            </a:endParaRPr>
          </a:p>
          <a:p>
            <a:r>
              <a:rPr lang="en-US" sz="1200" b="1" dirty="0">
                <a:solidFill>
                  <a:schemeClr val="tx1"/>
                </a:solidFill>
              </a:rPr>
              <a:t>High Frequency Behavior</a:t>
            </a:r>
          </a:p>
        </p:txBody>
      </p:sp>
      <p:sp>
        <p:nvSpPr>
          <p:cNvPr id="3" name="Rectangle 2">
            <a:extLst>
              <a:ext uri="{FF2B5EF4-FFF2-40B4-BE49-F238E27FC236}">
                <a16:creationId xmlns:a16="http://schemas.microsoft.com/office/drawing/2014/main" id="{2861E3ED-85EE-E44E-3F85-C71A4684C62B}"/>
              </a:ext>
            </a:extLst>
          </p:cNvPr>
          <p:cNvSpPr/>
          <p:nvPr/>
        </p:nvSpPr>
        <p:spPr>
          <a:xfrm>
            <a:off x="8169558" y="4287199"/>
            <a:ext cx="3717031" cy="2570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200" b="1" dirty="0">
                <a:solidFill>
                  <a:srgbClr val="740D02"/>
                </a:solidFill>
              </a:rPr>
              <a:t>Purchase frequency is almost evenly distributed.</a:t>
            </a:r>
          </a:p>
          <a:p>
            <a:pPr algn="just"/>
            <a:endParaRPr lang="en-US" sz="1200" b="1" dirty="0">
              <a:solidFill>
                <a:srgbClr val="740D02"/>
              </a:solidFill>
            </a:endParaRPr>
          </a:p>
          <a:p>
            <a:pPr marL="285750" indent="-285750" algn="just">
              <a:buFont typeface="Arial" panose="020B0604020202020204" pitchFamily="34" charset="0"/>
              <a:buChar char="•"/>
            </a:pPr>
            <a:r>
              <a:rPr lang="en-US" sz="1200" b="1" dirty="0">
                <a:solidFill>
                  <a:srgbClr val="740D02"/>
                </a:solidFill>
              </a:rPr>
              <a:t>Clothing &amp; Fashion are the most popular product categories followed by Beauty &amp; Personal Care.</a:t>
            </a:r>
          </a:p>
          <a:p>
            <a:pPr algn="just"/>
            <a:endParaRPr lang="en-US" sz="1200" b="1" dirty="0">
              <a:solidFill>
                <a:srgbClr val="740D02"/>
              </a:solidFill>
            </a:endParaRPr>
          </a:p>
          <a:p>
            <a:pPr marL="285750" indent="-285750" algn="just">
              <a:buFont typeface="Arial" panose="020B0604020202020204" pitchFamily="34" charset="0"/>
              <a:buChar char="•"/>
            </a:pPr>
            <a:r>
              <a:rPr lang="en-US" sz="1200" b="1" dirty="0">
                <a:solidFill>
                  <a:srgbClr val="740D02"/>
                </a:solidFill>
              </a:rPr>
              <a:t>Browsing engagement is high. Number of customers browsing multiple times a day and few times a week are higher.</a:t>
            </a:r>
          </a:p>
          <a:p>
            <a:pPr algn="just"/>
            <a:endParaRPr lang="en-US" sz="1200" b="1" dirty="0">
              <a:solidFill>
                <a:srgbClr val="740D02"/>
              </a:solidFill>
            </a:endParaRPr>
          </a:p>
          <a:p>
            <a:pPr marL="285750" indent="-285750" algn="just">
              <a:buFont typeface="Arial" panose="020B0604020202020204" pitchFamily="34" charset="0"/>
              <a:buChar char="•"/>
            </a:pPr>
            <a:r>
              <a:rPr lang="en-IN" sz="1200" b="1" dirty="0">
                <a:solidFill>
                  <a:srgbClr val="740D02"/>
                </a:solidFill>
              </a:rPr>
              <a:t>52% of the customers explore multiple search result pages.</a:t>
            </a:r>
          </a:p>
          <a:p>
            <a:pPr marL="285750" indent="-285750" algn="just">
              <a:buFont typeface="Arial" panose="020B0604020202020204" pitchFamily="34" charset="0"/>
              <a:buChar char="•"/>
            </a:pPr>
            <a:endParaRPr lang="en-IN" sz="1200" b="1" dirty="0">
              <a:solidFill>
                <a:srgbClr val="740D02"/>
              </a:solidFill>
            </a:endParaRPr>
          </a:p>
          <a:p>
            <a:pPr marL="285750" indent="-285750" algn="just">
              <a:buFont typeface="Arial" panose="020B0604020202020204" pitchFamily="34" charset="0"/>
              <a:buChar char="•"/>
            </a:pPr>
            <a:r>
              <a:rPr lang="en-IN" sz="1200" b="1" dirty="0">
                <a:solidFill>
                  <a:srgbClr val="740D02"/>
                </a:solidFill>
              </a:rPr>
              <a:t>Among the respondents, males are the highest in number followed by females.</a:t>
            </a:r>
          </a:p>
        </p:txBody>
      </p:sp>
      <p:pic>
        <p:nvPicPr>
          <p:cNvPr id="6" name="Picture 5">
            <a:extLst>
              <a:ext uri="{FF2B5EF4-FFF2-40B4-BE49-F238E27FC236}">
                <a16:creationId xmlns:a16="http://schemas.microsoft.com/office/drawing/2014/main" id="{BBBFB1A9-72E6-08AF-6355-584D4E68050F}"/>
              </a:ext>
            </a:extLst>
          </p:cNvPr>
          <p:cNvPicPr>
            <a:picLocks noChangeAspect="1"/>
          </p:cNvPicPr>
          <p:nvPr/>
        </p:nvPicPr>
        <p:blipFill>
          <a:blip r:embed="rId2"/>
          <a:stretch>
            <a:fillRect/>
          </a:stretch>
        </p:blipFill>
        <p:spPr>
          <a:xfrm>
            <a:off x="334504" y="1873018"/>
            <a:ext cx="3717032" cy="2246920"/>
          </a:xfrm>
          <a:prstGeom prst="rect">
            <a:avLst/>
          </a:prstGeom>
        </p:spPr>
      </p:pic>
      <p:pic>
        <p:nvPicPr>
          <p:cNvPr id="10" name="Picture 9">
            <a:extLst>
              <a:ext uri="{FF2B5EF4-FFF2-40B4-BE49-F238E27FC236}">
                <a16:creationId xmlns:a16="http://schemas.microsoft.com/office/drawing/2014/main" id="{9DC2B6C3-4651-B3EA-0812-88D87D8936F5}"/>
              </a:ext>
            </a:extLst>
          </p:cNvPr>
          <p:cNvPicPr>
            <a:picLocks noChangeAspect="1"/>
          </p:cNvPicPr>
          <p:nvPr/>
        </p:nvPicPr>
        <p:blipFill>
          <a:blip r:embed="rId3"/>
          <a:stretch>
            <a:fillRect/>
          </a:stretch>
        </p:blipFill>
        <p:spPr>
          <a:xfrm>
            <a:off x="4219028" y="1873020"/>
            <a:ext cx="3722895" cy="2246918"/>
          </a:xfrm>
          <a:prstGeom prst="rect">
            <a:avLst/>
          </a:prstGeom>
        </p:spPr>
      </p:pic>
      <p:pic>
        <p:nvPicPr>
          <p:cNvPr id="13" name="Picture 12">
            <a:extLst>
              <a:ext uri="{FF2B5EF4-FFF2-40B4-BE49-F238E27FC236}">
                <a16:creationId xmlns:a16="http://schemas.microsoft.com/office/drawing/2014/main" id="{7EA52F47-2C47-1BDF-9B08-1A806EB371F2}"/>
              </a:ext>
            </a:extLst>
          </p:cNvPr>
          <p:cNvPicPr>
            <a:picLocks noChangeAspect="1"/>
          </p:cNvPicPr>
          <p:nvPr/>
        </p:nvPicPr>
        <p:blipFill>
          <a:blip r:embed="rId4"/>
          <a:stretch>
            <a:fillRect/>
          </a:stretch>
        </p:blipFill>
        <p:spPr>
          <a:xfrm>
            <a:off x="8169559" y="1873018"/>
            <a:ext cx="3717030" cy="2246919"/>
          </a:xfrm>
          <a:prstGeom prst="rect">
            <a:avLst/>
          </a:prstGeom>
        </p:spPr>
      </p:pic>
      <p:pic>
        <p:nvPicPr>
          <p:cNvPr id="18" name="Picture 17">
            <a:extLst>
              <a:ext uri="{FF2B5EF4-FFF2-40B4-BE49-F238E27FC236}">
                <a16:creationId xmlns:a16="http://schemas.microsoft.com/office/drawing/2014/main" id="{6CF3A2E8-2A2E-B18A-1788-A0BFB2496E02}"/>
              </a:ext>
            </a:extLst>
          </p:cNvPr>
          <p:cNvPicPr>
            <a:picLocks noChangeAspect="1"/>
          </p:cNvPicPr>
          <p:nvPr/>
        </p:nvPicPr>
        <p:blipFill>
          <a:blip r:embed="rId5"/>
          <a:stretch>
            <a:fillRect/>
          </a:stretch>
        </p:blipFill>
        <p:spPr>
          <a:xfrm>
            <a:off x="334504" y="4287199"/>
            <a:ext cx="3717033" cy="2514874"/>
          </a:xfrm>
          <a:prstGeom prst="rect">
            <a:avLst/>
          </a:prstGeom>
        </p:spPr>
      </p:pic>
      <p:sp>
        <p:nvSpPr>
          <p:cNvPr id="21" name="Rectangle 20">
            <a:extLst>
              <a:ext uri="{FF2B5EF4-FFF2-40B4-BE49-F238E27FC236}">
                <a16:creationId xmlns:a16="http://schemas.microsoft.com/office/drawing/2014/main" id="{FC9F6D4F-DD18-59DC-2FE3-B13E8BB60A22}"/>
              </a:ext>
            </a:extLst>
          </p:cNvPr>
          <p:cNvSpPr/>
          <p:nvPr/>
        </p:nvSpPr>
        <p:spPr>
          <a:xfrm>
            <a:off x="4146812" y="726840"/>
            <a:ext cx="1793446"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52.00 %</a:t>
            </a:r>
          </a:p>
          <a:p>
            <a:endParaRPr lang="en-US" b="1" dirty="0">
              <a:solidFill>
                <a:schemeClr val="tx1"/>
              </a:solidFill>
            </a:endParaRPr>
          </a:p>
          <a:p>
            <a:r>
              <a:rPr lang="en-US" sz="1200" b="1" dirty="0">
                <a:solidFill>
                  <a:schemeClr val="tx1"/>
                </a:solidFill>
              </a:rPr>
              <a:t>Multiple Page Search</a:t>
            </a:r>
          </a:p>
        </p:txBody>
      </p:sp>
      <p:sp>
        <p:nvSpPr>
          <p:cNvPr id="27" name="Rectangle 26">
            <a:extLst>
              <a:ext uri="{FF2B5EF4-FFF2-40B4-BE49-F238E27FC236}">
                <a16:creationId xmlns:a16="http://schemas.microsoft.com/office/drawing/2014/main" id="{C0EAA0FE-49EC-5E29-1EDB-622499758249}"/>
              </a:ext>
            </a:extLst>
          </p:cNvPr>
          <p:cNvSpPr/>
          <p:nvPr/>
        </p:nvSpPr>
        <p:spPr>
          <a:xfrm>
            <a:off x="6035534" y="726840"/>
            <a:ext cx="1793446"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34.50 %</a:t>
            </a:r>
          </a:p>
          <a:p>
            <a:endParaRPr lang="en-US" b="1" dirty="0">
              <a:solidFill>
                <a:schemeClr val="tx1"/>
              </a:solidFill>
            </a:endParaRPr>
          </a:p>
          <a:p>
            <a:r>
              <a:rPr lang="en-US" sz="1200" b="1" dirty="0">
                <a:solidFill>
                  <a:schemeClr val="tx1"/>
                </a:solidFill>
              </a:rPr>
              <a:t>Add to Cart (Yes)</a:t>
            </a:r>
          </a:p>
        </p:txBody>
      </p:sp>
      <p:sp>
        <p:nvSpPr>
          <p:cNvPr id="29" name="Rectangle 28">
            <a:extLst>
              <a:ext uri="{FF2B5EF4-FFF2-40B4-BE49-F238E27FC236}">
                <a16:creationId xmlns:a16="http://schemas.microsoft.com/office/drawing/2014/main" id="{05C2D8E2-C3C8-758E-9BCC-57FDB146E8A5}"/>
              </a:ext>
            </a:extLst>
          </p:cNvPr>
          <p:cNvSpPr/>
          <p:nvPr/>
        </p:nvSpPr>
        <p:spPr>
          <a:xfrm>
            <a:off x="7924256" y="726839"/>
            <a:ext cx="1793446"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67.38 %</a:t>
            </a:r>
          </a:p>
          <a:p>
            <a:endParaRPr lang="en-US" b="1" dirty="0">
              <a:solidFill>
                <a:schemeClr val="tx1"/>
              </a:solidFill>
            </a:endParaRPr>
          </a:p>
          <a:p>
            <a:r>
              <a:rPr lang="en-US" sz="1200" b="1" dirty="0">
                <a:solidFill>
                  <a:schemeClr val="tx1"/>
                </a:solidFill>
              </a:rPr>
              <a:t>Recommendation not helpful/sometimes</a:t>
            </a:r>
          </a:p>
        </p:txBody>
      </p:sp>
      <p:sp>
        <p:nvSpPr>
          <p:cNvPr id="31" name="Rectangle 30">
            <a:extLst>
              <a:ext uri="{FF2B5EF4-FFF2-40B4-BE49-F238E27FC236}">
                <a16:creationId xmlns:a16="http://schemas.microsoft.com/office/drawing/2014/main" id="{B1D4CB74-0412-C284-AB0E-BD8DF731674A}"/>
              </a:ext>
            </a:extLst>
          </p:cNvPr>
          <p:cNvSpPr/>
          <p:nvPr/>
        </p:nvSpPr>
        <p:spPr>
          <a:xfrm>
            <a:off x="334504" y="729504"/>
            <a:ext cx="1810878"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40.00 %</a:t>
            </a:r>
          </a:p>
          <a:p>
            <a:endParaRPr lang="en-US" b="1" dirty="0">
              <a:solidFill>
                <a:schemeClr val="tx1"/>
              </a:solidFill>
            </a:endParaRPr>
          </a:p>
          <a:p>
            <a:r>
              <a:rPr lang="en-US" sz="1200" b="1" dirty="0">
                <a:solidFill>
                  <a:schemeClr val="tx1"/>
                </a:solidFill>
              </a:rPr>
              <a:t>Low Satisfaction</a:t>
            </a:r>
          </a:p>
        </p:txBody>
      </p:sp>
      <p:sp>
        <p:nvSpPr>
          <p:cNvPr id="33" name="Rectangle 32">
            <a:extLst>
              <a:ext uri="{FF2B5EF4-FFF2-40B4-BE49-F238E27FC236}">
                <a16:creationId xmlns:a16="http://schemas.microsoft.com/office/drawing/2014/main" id="{BBF5E856-6CC1-3EC2-1EB9-D4B91FC65E21}"/>
              </a:ext>
            </a:extLst>
          </p:cNvPr>
          <p:cNvSpPr/>
          <p:nvPr/>
        </p:nvSpPr>
        <p:spPr>
          <a:xfrm>
            <a:off x="9812978" y="726839"/>
            <a:ext cx="2044518" cy="965771"/>
          </a:xfrm>
          <a:prstGeom prst="rect">
            <a:avLst/>
          </a:prstGeom>
          <a:gradFill>
            <a:gsLst>
              <a:gs pos="0">
                <a:srgbClr val="FA2A2A">
                  <a:lumMod val="99000"/>
                  <a:alpha val="8000"/>
                </a:srgbClr>
              </a:gs>
              <a:gs pos="68000">
                <a:srgbClr val="FF0909">
                  <a:alpha val="4000"/>
                </a:srgbClr>
              </a:gs>
              <a:gs pos="100000">
                <a:srgbClr val="AC0000">
                  <a:alpha val="11000"/>
                </a:srgbClr>
              </a:gs>
              <a:gs pos="100000">
                <a:srgbClr val="FF0909">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901002"/>
                </a:solidFill>
              </a:rPr>
              <a:t>27.38 %</a:t>
            </a:r>
          </a:p>
          <a:p>
            <a:r>
              <a:rPr kumimoji="0" lang="en-US" sz="1200" b="1" i="0" u="none" strike="noStrike" kern="1200" cap="none" spc="0" normalizeH="0" baseline="0" noProof="0" dirty="0">
                <a:ln>
                  <a:noFill/>
                </a:ln>
                <a:solidFill>
                  <a:srgbClr val="901002"/>
                </a:solidFill>
                <a:effectLst/>
                <a:uLnTx/>
                <a:uFillTx/>
                <a:latin typeface="Calibri" panose="020F0502020204030204"/>
                <a:ea typeface="+mn-ea"/>
                <a:cs typeface="+mn-cs"/>
              </a:rPr>
              <a:t>(Better Price Elsewhere)</a:t>
            </a:r>
            <a:endParaRPr lang="en-US" b="1" dirty="0">
              <a:solidFill>
                <a:srgbClr val="901002"/>
              </a:solidFill>
            </a:endParaRPr>
          </a:p>
          <a:p>
            <a:r>
              <a:rPr lang="en-US" sz="1200" b="1" dirty="0">
                <a:solidFill>
                  <a:schemeClr val="tx1"/>
                </a:solidFill>
              </a:rPr>
              <a:t>Top Cart Abandonment Reason</a:t>
            </a:r>
          </a:p>
        </p:txBody>
      </p:sp>
      <p:pic>
        <p:nvPicPr>
          <p:cNvPr id="35" name="Picture 34">
            <a:extLst>
              <a:ext uri="{FF2B5EF4-FFF2-40B4-BE49-F238E27FC236}">
                <a16:creationId xmlns:a16="http://schemas.microsoft.com/office/drawing/2014/main" id="{5B433A08-CD35-2264-F4DE-2D4F25DE0C92}"/>
              </a:ext>
            </a:extLst>
          </p:cNvPr>
          <p:cNvPicPr>
            <a:picLocks noChangeAspect="1"/>
          </p:cNvPicPr>
          <p:nvPr/>
        </p:nvPicPr>
        <p:blipFill>
          <a:blip r:embed="rId6"/>
          <a:stretch>
            <a:fillRect/>
          </a:stretch>
        </p:blipFill>
        <p:spPr>
          <a:xfrm>
            <a:off x="4219027" y="4287199"/>
            <a:ext cx="3705229" cy="2514872"/>
          </a:xfrm>
          <a:prstGeom prst="rect">
            <a:avLst/>
          </a:prstGeom>
        </p:spPr>
      </p:pic>
    </p:spTree>
    <p:extLst>
      <p:ext uri="{BB962C8B-B14F-4D97-AF65-F5344CB8AC3E}">
        <p14:creationId xmlns:p14="http://schemas.microsoft.com/office/powerpoint/2010/main" val="623890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16000"/>
                <a:lumOff val="84000"/>
                <a:alpha val="22000"/>
              </a:schemeClr>
            </a:gs>
            <a:gs pos="74000">
              <a:schemeClr val="accent2">
                <a:alpha val="28000"/>
                <a:lumMod val="21000"/>
                <a:lumOff val="79000"/>
              </a:schemeClr>
            </a:gs>
            <a:gs pos="100000">
              <a:schemeClr val="accent2">
                <a:lumMod val="38000"/>
                <a:lumOff val="62000"/>
                <a:alpha val="29000"/>
              </a:schemeClr>
            </a:gs>
          </a:gsLst>
          <a:lin ang="5400000" scaled="1"/>
          <a:tileRect/>
        </a:gradFill>
        <a:effectLst/>
      </p:bgPr>
    </p:bg>
    <p:spTree>
      <p:nvGrpSpPr>
        <p:cNvPr id="1" name="">
          <a:extLst>
            <a:ext uri="{FF2B5EF4-FFF2-40B4-BE49-F238E27FC236}">
              <a16:creationId xmlns:a16="http://schemas.microsoft.com/office/drawing/2014/main" id="{60870284-DA71-8F0C-5505-350B561BDB0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55AD53E-7699-E6B3-1064-4744644DBB70}"/>
              </a:ext>
            </a:extLst>
          </p:cNvPr>
          <p:cNvSpPr/>
          <p:nvPr/>
        </p:nvSpPr>
        <p:spPr>
          <a:xfrm>
            <a:off x="0" y="0"/>
            <a:ext cx="12192000" cy="591054"/>
          </a:xfrm>
          <a:prstGeom prst="rect">
            <a:avLst/>
          </a:prstGeom>
          <a:solidFill>
            <a:srgbClr val="AA020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bIns="548640" rtlCol="0" anchor="ctr" anchorCtr="0">
            <a:noAutofit/>
          </a:bodyPr>
          <a:lstStyle/>
          <a:p>
            <a:endParaRPr lang="en-IN" dirty="0"/>
          </a:p>
          <a:p>
            <a:endParaRPr lang="en-IN" dirty="0"/>
          </a:p>
          <a:p>
            <a:pPr algn="ctr"/>
            <a:r>
              <a:rPr lang="en-US" sz="3600" b="1" dirty="0"/>
              <a:t>Market Basket Analysis with Python - Snapdeal</a:t>
            </a:r>
            <a:endParaRPr lang="en-IN" sz="3600" b="1" dirty="0"/>
          </a:p>
        </p:txBody>
      </p:sp>
      <p:pic>
        <p:nvPicPr>
          <p:cNvPr id="9" name="Picture 8">
            <a:extLst>
              <a:ext uri="{FF2B5EF4-FFF2-40B4-BE49-F238E27FC236}">
                <a16:creationId xmlns:a16="http://schemas.microsoft.com/office/drawing/2014/main" id="{619642BF-02F7-E771-B389-4D31CC6F0865}"/>
              </a:ext>
            </a:extLst>
          </p:cNvPr>
          <p:cNvPicPr>
            <a:picLocks noChangeAspect="1"/>
          </p:cNvPicPr>
          <p:nvPr/>
        </p:nvPicPr>
        <p:blipFill>
          <a:blip r:embed="rId2"/>
          <a:stretch>
            <a:fillRect/>
          </a:stretch>
        </p:blipFill>
        <p:spPr>
          <a:xfrm>
            <a:off x="8169557" y="768793"/>
            <a:ext cx="3800251" cy="2514874"/>
          </a:xfrm>
          <a:prstGeom prst="rect">
            <a:avLst/>
          </a:prstGeom>
        </p:spPr>
      </p:pic>
      <p:pic>
        <p:nvPicPr>
          <p:cNvPr id="12" name="Picture 11">
            <a:extLst>
              <a:ext uri="{FF2B5EF4-FFF2-40B4-BE49-F238E27FC236}">
                <a16:creationId xmlns:a16="http://schemas.microsoft.com/office/drawing/2014/main" id="{558FFCE2-D7DC-9D4D-EF6E-EF5111652A35}"/>
              </a:ext>
            </a:extLst>
          </p:cNvPr>
          <p:cNvPicPr>
            <a:picLocks noChangeAspect="1"/>
          </p:cNvPicPr>
          <p:nvPr/>
        </p:nvPicPr>
        <p:blipFill>
          <a:blip r:embed="rId3"/>
          <a:stretch>
            <a:fillRect/>
          </a:stretch>
        </p:blipFill>
        <p:spPr>
          <a:xfrm>
            <a:off x="135362" y="768792"/>
            <a:ext cx="3887080" cy="2514875"/>
          </a:xfrm>
          <a:prstGeom prst="rect">
            <a:avLst/>
          </a:prstGeom>
        </p:spPr>
      </p:pic>
      <p:pic>
        <p:nvPicPr>
          <p:cNvPr id="15" name="Picture 14">
            <a:extLst>
              <a:ext uri="{FF2B5EF4-FFF2-40B4-BE49-F238E27FC236}">
                <a16:creationId xmlns:a16="http://schemas.microsoft.com/office/drawing/2014/main" id="{BFE16245-915B-BE82-313E-1140C78ECE3D}"/>
              </a:ext>
            </a:extLst>
          </p:cNvPr>
          <p:cNvPicPr>
            <a:picLocks noChangeAspect="1"/>
          </p:cNvPicPr>
          <p:nvPr/>
        </p:nvPicPr>
        <p:blipFill>
          <a:blip r:embed="rId4"/>
          <a:stretch>
            <a:fillRect/>
          </a:stretch>
        </p:blipFill>
        <p:spPr>
          <a:xfrm>
            <a:off x="4237484" y="768793"/>
            <a:ext cx="3717031" cy="2514874"/>
          </a:xfrm>
          <a:prstGeom prst="rect">
            <a:avLst/>
          </a:prstGeom>
        </p:spPr>
      </p:pic>
      <p:pic>
        <p:nvPicPr>
          <p:cNvPr id="18" name="Picture 17">
            <a:extLst>
              <a:ext uri="{FF2B5EF4-FFF2-40B4-BE49-F238E27FC236}">
                <a16:creationId xmlns:a16="http://schemas.microsoft.com/office/drawing/2014/main" id="{5905B266-C0B8-3F50-3DAA-06D1D00A7EDA}"/>
              </a:ext>
            </a:extLst>
          </p:cNvPr>
          <p:cNvPicPr>
            <a:picLocks noChangeAspect="1"/>
          </p:cNvPicPr>
          <p:nvPr/>
        </p:nvPicPr>
        <p:blipFill>
          <a:blip r:embed="rId5"/>
          <a:stretch>
            <a:fillRect/>
          </a:stretch>
        </p:blipFill>
        <p:spPr>
          <a:xfrm>
            <a:off x="4237483" y="3574333"/>
            <a:ext cx="3717032" cy="3100792"/>
          </a:xfrm>
          <a:prstGeom prst="rect">
            <a:avLst/>
          </a:prstGeom>
        </p:spPr>
      </p:pic>
      <p:sp>
        <p:nvSpPr>
          <p:cNvPr id="21" name="Rectangle 20">
            <a:extLst>
              <a:ext uri="{FF2B5EF4-FFF2-40B4-BE49-F238E27FC236}">
                <a16:creationId xmlns:a16="http://schemas.microsoft.com/office/drawing/2014/main" id="{326E34CD-FFAB-B2C6-48E9-1AF1B1CB6254}"/>
              </a:ext>
            </a:extLst>
          </p:cNvPr>
          <p:cNvSpPr/>
          <p:nvPr/>
        </p:nvSpPr>
        <p:spPr>
          <a:xfrm>
            <a:off x="8169558" y="3574333"/>
            <a:ext cx="3887080" cy="3100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200" b="1" dirty="0">
                <a:solidFill>
                  <a:srgbClr val="740D02"/>
                </a:solidFill>
              </a:rPr>
              <a:t>67.38% of the respondents either do not find the personalized recommendations helpful or only sometimes helpful.</a:t>
            </a:r>
          </a:p>
          <a:p>
            <a:pPr algn="just"/>
            <a:r>
              <a:rPr lang="en-US" sz="1200" b="1" dirty="0">
                <a:solidFill>
                  <a:srgbClr val="740D02"/>
                </a:solidFill>
              </a:rPr>
              <a:t> </a:t>
            </a:r>
          </a:p>
          <a:p>
            <a:pPr marL="285750" indent="-285750" algn="just">
              <a:buFont typeface="Arial" panose="020B0604020202020204" pitchFamily="34" charset="0"/>
              <a:buChar char="•"/>
            </a:pPr>
            <a:r>
              <a:rPr lang="en-US" sz="1200" b="1" dirty="0">
                <a:solidFill>
                  <a:srgbClr val="740D02"/>
                </a:solidFill>
              </a:rPr>
              <a:t>Those who find personalized recommendations helpful or sometimes helpful do not have much difference in average shopping satisfaction than those who do not find them helpful.</a:t>
            </a:r>
          </a:p>
          <a:p>
            <a:pPr algn="just"/>
            <a:endParaRPr lang="en-US" sz="1200" b="1" dirty="0">
              <a:solidFill>
                <a:srgbClr val="740D02"/>
              </a:solidFill>
            </a:endParaRPr>
          </a:p>
          <a:p>
            <a:pPr marL="285750" indent="-285750" algn="just">
              <a:buFont typeface="Arial" panose="020B0604020202020204" pitchFamily="34" charset="0"/>
              <a:buChar char="•"/>
            </a:pPr>
            <a:r>
              <a:rPr lang="en-US" sz="1200" b="1" dirty="0">
                <a:solidFill>
                  <a:srgbClr val="740D02"/>
                </a:solidFill>
              </a:rPr>
              <a:t>Add to cart intent is not very different among those who say yes and those who say no or maybe.</a:t>
            </a:r>
          </a:p>
          <a:p>
            <a:pPr algn="just"/>
            <a:r>
              <a:rPr lang="en-US" sz="1200" b="1" dirty="0">
                <a:solidFill>
                  <a:srgbClr val="740D02"/>
                </a:solidFill>
              </a:rPr>
              <a:t> </a:t>
            </a:r>
          </a:p>
          <a:p>
            <a:pPr marL="285750" indent="-285750" algn="just">
              <a:buFont typeface="Arial" panose="020B0604020202020204" pitchFamily="34" charset="0"/>
              <a:buChar char="•"/>
            </a:pPr>
            <a:r>
              <a:rPr lang="en-IN" sz="1200" b="1" dirty="0">
                <a:solidFill>
                  <a:srgbClr val="740D02"/>
                </a:solidFill>
              </a:rPr>
              <a:t>Those who rely heavily on reviews not always find those reviews helpful while those who rely rarely on reviews might find them helpful. That means more helpful reviews do not always have high ratings.</a:t>
            </a:r>
          </a:p>
        </p:txBody>
      </p:sp>
      <p:pic>
        <p:nvPicPr>
          <p:cNvPr id="25" name="Picture 24">
            <a:extLst>
              <a:ext uri="{FF2B5EF4-FFF2-40B4-BE49-F238E27FC236}">
                <a16:creationId xmlns:a16="http://schemas.microsoft.com/office/drawing/2014/main" id="{DA226836-DECF-48BE-D47C-CF3DCD48EECC}"/>
              </a:ext>
            </a:extLst>
          </p:cNvPr>
          <p:cNvPicPr>
            <a:picLocks noChangeAspect="1"/>
          </p:cNvPicPr>
          <p:nvPr/>
        </p:nvPicPr>
        <p:blipFill>
          <a:blip r:embed="rId6"/>
          <a:stretch>
            <a:fillRect/>
          </a:stretch>
        </p:blipFill>
        <p:spPr>
          <a:xfrm>
            <a:off x="135362" y="3607797"/>
            <a:ext cx="3887080" cy="3067328"/>
          </a:xfrm>
          <a:prstGeom prst="rect">
            <a:avLst/>
          </a:prstGeom>
        </p:spPr>
      </p:pic>
    </p:spTree>
    <p:extLst>
      <p:ext uri="{BB962C8B-B14F-4D97-AF65-F5344CB8AC3E}">
        <p14:creationId xmlns:p14="http://schemas.microsoft.com/office/powerpoint/2010/main" val="2170622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16000"/>
                <a:lumOff val="84000"/>
                <a:alpha val="22000"/>
              </a:schemeClr>
            </a:gs>
            <a:gs pos="74000">
              <a:schemeClr val="accent2">
                <a:alpha val="28000"/>
                <a:lumMod val="21000"/>
                <a:lumOff val="79000"/>
              </a:schemeClr>
            </a:gs>
            <a:gs pos="100000">
              <a:schemeClr val="accent2">
                <a:lumMod val="38000"/>
                <a:lumOff val="62000"/>
                <a:alpha val="29000"/>
              </a:schemeClr>
            </a:gs>
          </a:gsLst>
          <a:lin ang="5400000" scaled="1"/>
          <a:tileRect/>
        </a:gradFill>
        <a:effectLst/>
      </p:bgPr>
    </p:bg>
    <p:spTree>
      <p:nvGrpSpPr>
        <p:cNvPr id="1" name="">
          <a:extLst>
            <a:ext uri="{FF2B5EF4-FFF2-40B4-BE49-F238E27FC236}">
              <a16:creationId xmlns:a16="http://schemas.microsoft.com/office/drawing/2014/main" id="{2821E604-A753-BBFE-2BE5-1E593CB2720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57811B1-45F8-8555-BA87-B3DD0DC7CEA4}"/>
              </a:ext>
            </a:extLst>
          </p:cNvPr>
          <p:cNvSpPr/>
          <p:nvPr/>
        </p:nvSpPr>
        <p:spPr>
          <a:xfrm>
            <a:off x="0" y="0"/>
            <a:ext cx="12192000" cy="591054"/>
          </a:xfrm>
          <a:prstGeom prst="rect">
            <a:avLst/>
          </a:prstGeom>
          <a:solidFill>
            <a:srgbClr val="AA020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bIns="548640" rtlCol="0" anchor="ctr" anchorCtr="0">
            <a:noAutofit/>
          </a:bodyPr>
          <a:lstStyle/>
          <a:p>
            <a:endParaRPr lang="en-IN" dirty="0"/>
          </a:p>
          <a:p>
            <a:endParaRPr lang="en-IN" dirty="0"/>
          </a:p>
          <a:p>
            <a:pPr algn="ctr"/>
            <a:r>
              <a:rPr lang="en-US" sz="3600" b="1" dirty="0"/>
              <a:t>Market Basket Analysis with Python - Snapdeal</a:t>
            </a:r>
            <a:endParaRPr lang="en-IN" sz="3600" b="1" dirty="0"/>
          </a:p>
        </p:txBody>
      </p:sp>
      <p:sp>
        <p:nvSpPr>
          <p:cNvPr id="21" name="Rectangle 20">
            <a:extLst>
              <a:ext uri="{FF2B5EF4-FFF2-40B4-BE49-F238E27FC236}">
                <a16:creationId xmlns:a16="http://schemas.microsoft.com/office/drawing/2014/main" id="{DD130538-4529-F94D-0AAE-1B0255843469}"/>
              </a:ext>
            </a:extLst>
          </p:cNvPr>
          <p:cNvSpPr/>
          <p:nvPr/>
        </p:nvSpPr>
        <p:spPr>
          <a:xfrm>
            <a:off x="8169557" y="3574335"/>
            <a:ext cx="3887080" cy="3100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1200" b="1" dirty="0">
                <a:solidFill>
                  <a:srgbClr val="740D02"/>
                </a:solidFill>
              </a:rPr>
              <a:t> K-Means identified 5 different clusters indicating differences in purchasing, browsing, cart completion and shopping satisfaction patterns.</a:t>
            </a:r>
          </a:p>
          <a:p>
            <a:pPr marL="285750" indent="-285750" algn="just">
              <a:buFont typeface="Arial" panose="020B0604020202020204" pitchFamily="34" charset="0"/>
              <a:buChar char="•"/>
            </a:pPr>
            <a:endParaRPr lang="en-US" sz="1200" b="1" dirty="0">
              <a:solidFill>
                <a:srgbClr val="740D02"/>
              </a:solidFill>
            </a:endParaRPr>
          </a:p>
          <a:p>
            <a:pPr marL="285750" indent="-285750" algn="just">
              <a:buFont typeface="Arial" panose="020B0604020202020204" pitchFamily="34" charset="0"/>
              <a:buChar char="•"/>
            </a:pPr>
            <a:r>
              <a:rPr lang="en-US" sz="1200" b="1" dirty="0">
                <a:solidFill>
                  <a:srgbClr val="740D02"/>
                </a:solidFill>
              </a:rPr>
              <a:t>Medium frequency &amp; low satisfaction customers form the largest segment (17.25%). This segment also needs retention efforts along with high frequency and low satisfaction segment (16.38%).</a:t>
            </a:r>
          </a:p>
          <a:p>
            <a:pPr marL="285750" indent="-285750" algn="just">
              <a:buFont typeface="Arial" panose="020B0604020202020204" pitchFamily="34" charset="0"/>
              <a:buChar char="•"/>
            </a:pPr>
            <a:endParaRPr lang="en-US" sz="1200" b="1" dirty="0">
              <a:solidFill>
                <a:srgbClr val="740D02"/>
              </a:solidFill>
            </a:endParaRPr>
          </a:p>
          <a:p>
            <a:pPr marL="285750" indent="-285750" algn="just">
              <a:buFont typeface="Arial" panose="020B0604020202020204" pitchFamily="34" charset="0"/>
              <a:buChar char="•"/>
            </a:pPr>
            <a:r>
              <a:rPr lang="en-US" sz="1200" b="1" dirty="0">
                <a:solidFill>
                  <a:srgbClr val="740D02"/>
                </a:solidFill>
              </a:rPr>
              <a:t>At risk customers have higher never/rarely cart completion frequency while frequent buyers have higher always/often cart completion frequency,</a:t>
            </a:r>
          </a:p>
          <a:p>
            <a:pPr algn="just"/>
            <a:endParaRPr lang="en-US" sz="1200" b="1" dirty="0">
              <a:solidFill>
                <a:srgbClr val="740D02"/>
              </a:solidFill>
            </a:endParaRPr>
          </a:p>
          <a:p>
            <a:pPr marL="285750" indent="-285750" algn="just">
              <a:buFont typeface="Arial" panose="020B0604020202020204" pitchFamily="34" charset="0"/>
              <a:buChar char="•"/>
            </a:pPr>
            <a:r>
              <a:rPr lang="en-IN" sz="1200" b="1" dirty="0">
                <a:solidFill>
                  <a:srgbClr val="740D02"/>
                </a:solidFill>
              </a:rPr>
              <a:t>Customers who browse few times a week and purchase once or multiple times a week have lower shopping satisfaction and form the highest clusters. This group needs better shopping experience.</a:t>
            </a:r>
          </a:p>
        </p:txBody>
      </p:sp>
      <p:pic>
        <p:nvPicPr>
          <p:cNvPr id="3" name="Picture 2">
            <a:extLst>
              <a:ext uri="{FF2B5EF4-FFF2-40B4-BE49-F238E27FC236}">
                <a16:creationId xmlns:a16="http://schemas.microsoft.com/office/drawing/2014/main" id="{354B037B-BCF5-0F42-B2C6-0D94433C879C}"/>
              </a:ext>
            </a:extLst>
          </p:cNvPr>
          <p:cNvPicPr>
            <a:picLocks noChangeAspect="1"/>
          </p:cNvPicPr>
          <p:nvPr/>
        </p:nvPicPr>
        <p:blipFill>
          <a:blip r:embed="rId2"/>
          <a:stretch>
            <a:fillRect/>
          </a:stretch>
        </p:blipFill>
        <p:spPr>
          <a:xfrm>
            <a:off x="135362" y="768796"/>
            <a:ext cx="3275658" cy="2660204"/>
          </a:xfrm>
          <a:prstGeom prst="rect">
            <a:avLst/>
          </a:prstGeom>
        </p:spPr>
      </p:pic>
      <p:pic>
        <p:nvPicPr>
          <p:cNvPr id="10" name="Picture 9">
            <a:extLst>
              <a:ext uri="{FF2B5EF4-FFF2-40B4-BE49-F238E27FC236}">
                <a16:creationId xmlns:a16="http://schemas.microsoft.com/office/drawing/2014/main" id="{087D2C98-CEFB-4440-70FD-B7A551DFDFCB}"/>
              </a:ext>
            </a:extLst>
          </p:cNvPr>
          <p:cNvPicPr>
            <a:picLocks noChangeAspect="1"/>
          </p:cNvPicPr>
          <p:nvPr/>
        </p:nvPicPr>
        <p:blipFill>
          <a:blip r:embed="rId3"/>
          <a:stretch>
            <a:fillRect/>
          </a:stretch>
        </p:blipFill>
        <p:spPr>
          <a:xfrm>
            <a:off x="135362" y="4047329"/>
            <a:ext cx="4775685" cy="2627798"/>
          </a:xfrm>
          <a:prstGeom prst="rect">
            <a:avLst/>
          </a:prstGeom>
        </p:spPr>
      </p:pic>
      <p:pic>
        <p:nvPicPr>
          <p:cNvPr id="13" name="Picture 12">
            <a:extLst>
              <a:ext uri="{FF2B5EF4-FFF2-40B4-BE49-F238E27FC236}">
                <a16:creationId xmlns:a16="http://schemas.microsoft.com/office/drawing/2014/main" id="{5F477A98-0930-12CF-4C24-288C6E62EA04}"/>
              </a:ext>
            </a:extLst>
          </p:cNvPr>
          <p:cNvPicPr>
            <a:picLocks noChangeAspect="1"/>
          </p:cNvPicPr>
          <p:nvPr/>
        </p:nvPicPr>
        <p:blipFill>
          <a:blip r:embed="rId4"/>
          <a:stretch>
            <a:fillRect/>
          </a:stretch>
        </p:blipFill>
        <p:spPr>
          <a:xfrm>
            <a:off x="4993641" y="4047329"/>
            <a:ext cx="3093322" cy="2627798"/>
          </a:xfrm>
          <a:prstGeom prst="rect">
            <a:avLst/>
          </a:prstGeom>
        </p:spPr>
      </p:pic>
      <p:pic>
        <p:nvPicPr>
          <p:cNvPr id="16" name="Picture 15">
            <a:extLst>
              <a:ext uri="{FF2B5EF4-FFF2-40B4-BE49-F238E27FC236}">
                <a16:creationId xmlns:a16="http://schemas.microsoft.com/office/drawing/2014/main" id="{7B374CBF-BEFD-059F-B5F7-7860329F80EE}"/>
              </a:ext>
            </a:extLst>
          </p:cNvPr>
          <p:cNvPicPr>
            <a:picLocks noChangeAspect="1"/>
          </p:cNvPicPr>
          <p:nvPr/>
        </p:nvPicPr>
        <p:blipFill>
          <a:blip r:embed="rId5"/>
          <a:stretch>
            <a:fillRect/>
          </a:stretch>
        </p:blipFill>
        <p:spPr>
          <a:xfrm>
            <a:off x="3524035" y="1254295"/>
            <a:ext cx="4911048" cy="1834539"/>
          </a:xfrm>
          <a:prstGeom prst="rect">
            <a:avLst/>
          </a:prstGeom>
        </p:spPr>
      </p:pic>
      <p:pic>
        <p:nvPicPr>
          <p:cNvPr id="19" name="Picture 18">
            <a:extLst>
              <a:ext uri="{FF2B5EF4-FFF2-40B4-BE49-F238E27FC236}">
                <a16:creationId xmlns:a16="http://schemas.microsoft.com/office/drawing/2014/main" id="{585B7EF6-4431-E7C5-9B3A-BAF84FB1048A}"/>
              </a:ext>
            </a:extLst>
          </p:cNvPr>
          <p:cNvPicPr>
            <a:picLocks noChangeAspect="1"/>
          </p:cNvPicPr>
          <p:nvPr/>
        </p:nvPicPr>
        <p:blipFill>
          <a:blip r:embed="rId6"/>
          <a:stretch>
            <a:fillRect/>
          </a:stretch>
        </p:blipFill>
        <p:spPr>
          <a:xfrm>
            <a:off x="8548098" y="768796"/>
            <a:ext cx="3508539" cy="2514869"/>
          </a:xfrm>
          <a:prstGeom prst="rect">
            <a:avLst/>
          </a:prstGeom>
        </p:spPr>
      </p:pic>
    </p:spTree>
    <p:extLst>
      <p:ext uri="{BB962C8B-B14F-4D97-AF65-F5344CB8AC3E}">
        <p14:creationId xmlns:p14="http://schemas.microsoft.com/office/powerpoint/2010/main" val="1233727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16000"/>
                <a:lumOff val="84000"/>
                <a:alpha val="22000"/>
              </a:schemeClr>
            </a:gs>
            <a:gs pos="74000">
              <a:schemeClr val="accent2">
                <a:alpha val="28000"/>
                <a:lumMod val="21000"/>
                <a:lumOff val="79000"/>
              </a:schemeClr>
            </a:gs>
            <a:gs pos="100000">
              <a:schemeClr val="accent2">
                <a:lumMod val="38000"/>
                <a:lumOff val="62000"/>
                <a:alpha val="29000"/>
              </a:schemeClr>
            </a:gs>
          </a:gsLst>
          <a:lin ang="5400000" scaled="1"/>
          <a:tileRect/>
        </a:gradFill>
        <a:effectLst/>
      </p:bgPr>
    </p:bg>
    <p:spTree>
      <p:nvGrpSpPr>
        <p:cNvPr id="1" name="">
          <a:extLst>
            <a:ext uri="{FF2B5EF4-FFF2-40B4-BE49-F238E27FC236}">
              <a16:creationId xmlns:a16="http://schemas.microsoft.com/office/drawing/2014/main" id="{A7AA1FBD-65BD-53C0-3578-61D48C24BF4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7155DC2-AF42-3D2A-6288-088252A6B9B0}"/>
              </a:ext>
            </a:extLst>
          </p:cNvPr>
          <p:cNvSpPr/>
          <p:nvPr/>
        </p:nvSpPr>
        <p:spPr>
          <a:xfrm>
            <a:off x="0" y="0"/>
            <a:ext cx="12192000" cy="591054"/>
          </a:xfrm>
          <a:prstGeom prst="rect">
            <a:avLst/>
          </a:prstGeom>
          <a:solidFill>
            <a:srgbClr val="AA020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bIns="548640" rtlCol="0" anchor="ctr" anchorCtr="0">
            <a:noAutofit/>
          </a:bodyPr>
          <a:lstStyle/>
          <a:p>
            <a:endParaRPr lang="en-IN" dirty="0"/>
          </a:p>
          <a:p>
            <a:endParaRPr lang="en-IN" dirty="0"/>
          </a:p>
          <a:p>
            <a:pPr algn="ctr"/>
            <a:r>
              <a:rPr lang="en-US" sz="3600" b="1" dirty="0"/>
              <a:t>Market Basket Analysis with Python - Snapdeal</a:t>
            </a:r>
            <a:endParaRPr lang="en-IN" sz="3600" b="1" dirty="0"/>
          </a:p>
        </p:txBody>
      </p:sp>
      <p:sp>
        <p:nvSpPr>
          <p:cNvPr id="8" name="Rectangle 7">
            <a:extLst>
              <a:ext uri="{FF2B5EF4-FFF2-40B4-BE49-F238E27FC236}">
                <a16:creationId xmlns:a16="http://schemas.microsoft.com/office/drawing/2014/main" id="{D5A64780-D0A7-09AD-F20F-B3729FD5795B}"/>
              </a:ext>
            </a:extLst>
          </p:cNvPr>
          <p:cNvSpPr/>
          <p:nvPr/>
        </p:nvSpPr>
        <p:spPr>
          <a:xfrm>
            <a:off x="0" y="591055"/>
            <a:ext cx="12192000" cy="6266945"/>
          </a:xfrm>
          <a:prstGeom prst="rect">
            <a:avLst/>
          </a:prstGeom>
          <a:gradFill>
            <a:gsLst>
              <a:gs pos="0">
                <a:srgbClr val="FA2A2A">
                  <a:alpha val="0"/>
                </a:srgbClr>
              </a:gs>
              <a:gs pos="100000">
                <a:srgbClr val="FA2A2A">
                  <a:alpha val="0"/>
                </a:srgbClr>
              </a:gs>
              <a:gs pos="68000">
                <a:srgbClr val="FA2A2A">
                  <a:alpha val="8000"/>
                </a:srgbClr>
              </a:gs>
              <a:gs pos="100000">
                <a:srgbClr val="FA2A2A">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2">
                    <a:lumMod val="50000"/>
                  </a:schemeClr>
                </a:solidFill>
              </a:rPr>
              <a:t>Insights:</a:t>
            </a:r>
            <a:endParaRPr lang="en-US" sz="2400" b="1" dirty="0">
              <a:solidFill>
                <a:schemeClr val="accent1">
                  <a:lumMod val="50000"/>
                </a:schemeClr>
              </a:solidFill>
            </a:endParaRPr>
          </a:p>
          <a:p>
            <a:pPr marL="285750" indent="-285750">
              <a:buFont typeface="Arial" panose="020B0604020202020204" pitchFamily="34" charset="0"/>
              <a:buChar char="•"/>
            </a:pPr>
            <a:r>
              <a:rPr lang="en-US" sz="1700" b="1" dirty="0">
                <a:solidFill>
                  <a:srgbClr val="5E0B02"/>
                </a:solidFill>
              </a:rPr>
              <a:t>Customers actively browse and 52% of them explore multiple search result pages but add to cart behavior is almost equal for customers who say yes/no/sometimes.</a:t>
            </a:r>
          </a:p>
          <a:p>
            <a:pPr marL="285750" indent="-285750">
              <a:buFont typeface="Arial" panose="020B0604020202020204" pitchFamily="34" charset="0"/>
              <a:buChar char="•"/>
            </a:pPr>
            <a:r>
              <a:rPr lang="en-US" sz="1700" b="1" dirty="0">
                <a:solidFill>
                  <a:srgbClr val="5E0B02"/>
                </a:solidFill>
              </a:rPr>
              <a:t>Finding a better price elsewhere is the highest occurring cart abandonment factor (27.38%) followed by high shipping costs (24.25%).</a:t>
            </a:r>
          </a:p>
          <a:p>
            <a:pPr marL="285750" indent="-285750">
              <a:buFont typeface="Arial" panose="020B0604020202020204" pitchFamily="34" charset="0"/>
              <a:buChar char="•"/>
            </a:pPr>
            <a:r>
              <a:rPr lang="en-US" sz="1700" b="1" dirty="0">
                <a:solidFill>
                  <a:srgbClr val="5E0B02"/>
                </a:solidFill>
              </a:rPr>
              <a:t>67.38% of the customers either do not find personalized recommendations helpful or find them helpful only sometimes.</a:t>
            </a:r>
          </a:p>
          <a:p>
            <a:pPr marL="285750" indent="-285750">
              <a:buFont typeface="Arial" panose="020B0604020202020204" pitchFamily="34" charset="0"/>
              <a:buChar char="•"/>
            </a:pPr>
            <a:r>
              <a:rPr lang="en-US" sz="1700" b="1" dirty="0">
                <a:solidFill>
                  <a:srgbClr val="5E0B02"/>
                </a:solidFill>
              </a:rPr>
              <a:t>The At-Risk customers have higher never/rarely cart completion, thereby giving a conversion and retention opportunity.</a:t>
            </a:r>
          </a:p>
          <a:p>
            <a:pPr marL="285750" indent="-285750">
              <a:buFont typeface="Arial" panose="020B0604020202020204" pitchFamily="34" charset="0"/>
              <a:buChar char="•"/>
            </a:pPr>
            <a:r>
              <a:rPr lang="en-US" sz="1700" b="1" dirty="0">
                <a:solidFill>
                  <a:srgbClr val="5E0B02"/>
                </a:solidFill>
              </a:rPr>
              <a:t>There exists distinct combinations of customers with different purchase frequency and satisfaction levels. Hence, different segments should be treated with different engagement strategies.</a:t>
            </a:r>
          </a:p>
          <a:p>
            <a:pPr marL="285750" indent="-285750">
              <a:buFont typeface="Arial" panose="020B0604020202020204" pitchFamily="34" charset="0"/>
              <a:buChar char="•"/>
            </a:pPr>
            <a:r>
              <a:rPr lang="en-US" sz="1700" b="1" dirty="0">
                <a:solidFill>
                  <a:srgbClr val="5E0B02"/>
                </a:solidFill>
              </a:rPr>
              <a:t>Customers who browse few times a week and purchase once or multiple times a week have lower shopping satisfaction and form the highest clusters. </a:t>
            </a:r>
          </a:p>
          <a:p>
            <a:endParaRPr lang="en-US" b="1" dirty="0">
              <a:solidFill>
                <a:schemeClr val="accent1">
                  <a:lumMod val="50000"/>
                </a:schemeClr>
              </a:solidFill>
            </a:endParaRPr>
          </a:p>
          <a:p>
            <a:r>
              <a:rPr lang="en-US" sz="2400" b="1" dirty="0">
                <a:solidFill>
                  <a:schemeClr val="tx2">
                    <a:lumMod val="50000"/>
                  </a:schemeClr>
                </a:solidFill>
              </a:rPr>
              <a:t>Recommendations:</a:t>
            </a:r>
            <a:endParaRPr lang="en-US" sz="2400" b="1" dirty="0">
              <a:solidFill>
                <a:schemeClr val="accent1">
                  <a:lumMod val="50000"/>
                </a:schemeClr>
              </a:solidFill>
            </a:endParaRPr>
          </a:p>
          <a:p>
            <a:pPr marL="285750" indent="-285750">
              <a:buFont typeface="Arial" panose="020B0604020202020204" pitchFamily="34" charset="0"/>
              <a:buChar char="•"/>
            </a:pPr>
            <a:r>
              <a:rPr lang="en-US" sz="1700" b="1" dirty="0">
                <a:solidFill>
                  <a:srgbClr val="5E0B02"/>
                </a:solidFill>
              </a:rPr>
              <a:t>Use behavioral data of customers like browsing, purchasing, cart abandonment, cart completion etc. to personalize recommendations and ensure the customers find them helpful. </a:t>
            </a:r>
          </a:p>
          <a:p>
            <a:pPr marL="285750" indent="-285750">
              <a:buFont typeface="Arial" panose="020B0604020202020204" pitchFamily="34" charset="0"/>
              <a:buChar char="•"/>
            </a:pPr>
            <a:r>
              <a:rPr lang="en-US" sz="1700" b="1" dirty="0">
                <a:solidFill>
                  <a:srgbClr val="5E0B02"/>
                </a:solidFill>
              </a:rPr>
              <a:t>Monitoring of competitor pricing and using targeted discounts and lowering shipping costs are needed to reduce cart abandonment. </a:t>
            </a:r>
          </a:p>
          <a:p>
            <a:pPr marL="285750" indent="-285750">
              <a:buFont typeface="Arial" panose="020B0604020202020204" pitchFamily="34" charset="0"/>
              <a:buChar char="•"/>
            </a:pPr>
            <a:r>
              <a:rPr lang="en-US" sz="1700" b="1" dirty="0">
                <a:solidFill>
                  <a:srgbClr val="5E0B02"/>
                </a:solidFill>
              </a:rPr>
              <a:t>Improve product search exploration and filters so that customers find the required products faster and on the first page.</a:t>
            </a:r>
          </a:p>
          <a:p>
            <a:pPr marL="285750" indent="-285750">
              <a:buFont typeface="Arial" panose="020B0604020202020204" pitchFamily="34" charset="0"/>
              <a:buChar char="•"/>
            </a:pPr>
            <a:r>
              <a:rPr lang="en-US" sz="1700" b="1" dirty="0">
                <a:solidFill>
                  <a:srgbClr val="5E0B02"/>
                </a:solidFill>
              </a:rPr>
              <a:t>Target customers with low satisfaction, high cart abandonment and at-risk customers with low cart completion.</a:t>
            </a:r>
          </a:p>
          <a:p>
            <a:pPr marL="285750" indent="-285750">
              <a:buFont typeface="Arial" panose="020B0604020202020204" pitchFamily="34" charset="0"/>
              <a:buChar char="•"/>
            </a:pPr>
            <a:r>
              <a:rPr lang="en-US" sz="1700" b="1" dirty="0">
                <a:solidFill>
                  <a:srgbClr val="5E0B02"/>
                </a:solidFill>
              </a:rPr>
              <a:t>Improve the shopping experience of customers who browse few times a week and purchase once or multiple times a week (43.13% cluster size) while also encouraging customers who browse multiple times a day but purchase once a month (18.63% cluster size) to buy more.</a:t>
            </a:r>
          </a:p>
        </p:txBody>
      </p:sp>
    </p:spTree>
    <p:extLst>
      <p:ext uri="{BB962C8B-B14F-4D97-AF65-F5344CB8AC3E}">
        <p14:creationId xmlns:p14="http://schemas.microsoft.com/office/powerpoint/2010/main" val="4250343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880</TotalTime>
  <Words>628</Words>
  <Application>Microsoft Office PowerPoint</Application>
  <PresentationFormat>Widescreen</PresentationFormat>
  <Paragraphs>67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Ananya Mishra</dc:creator>
  <cp:lastModifiedBy>Ananya Mishra</cp:lastModifiedBy>
  <cp:revision>68</cp:revision>
  <dcterms:created xsi:type="dcterms:W3CDTF">2026-08-08T10:14:43Z</dcterms:created>
  <dcterms:modified xsi:type="dcterms:W3CDTF">2026-08-15T15:02:44Z</dcterms:modified>
</cp:coreProperties>
</file>